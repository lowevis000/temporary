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2" r:id="rId3"/>
    <p:sldId id="261" r:id="rId4"/>
    <p:sldId id="258" r:id="rId5"/>
    <p:sldId id="259" r:id="rId6"/>
    <p:sldId id="260"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D07F51-BC05-42D8-A44F-72054B08C492}" v="1" dt="2026-09-16T13:36:29.6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7EEC49-5D2C-8042-ACA5-2513956633EB}"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3A0494-AEE6-2F4A-99F7-6F7A85822C55}" type="slidenum">
              <a:rPr lang="en-US" smtClean="0"/>
              <a:t>‹#›</a:t>
            </a:fld>
            <a:endParaRPr lang="en-US"/>
          </a:p>
        </p:txBody>
      </p:sp>
    </p:spTree>
    <p:extLst>
      <p:ext uri="{BB962C8B-B14F-4D97-AF65-F5344CB8AC3E}">
        <p14:creationId xmlns:p14="http://schemas.microsoft.com/office/powerpoint/2010/main" val="1669409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WHO: The Scottish Independent movement (made up of citizens + political leaders), United </a:t>
            </a:r>
          </a:p>
          <a:p>
            <a:r>
              <a:rPr lang="en-US"/>
              <a:t>Kingdom Parliament and European Union officials.  </a:t>
            </a:r>
          </a:p>
          <a:p>
            <a:endParaRPr lang="en-US"/>
          </a:p>
          <a:p>
            <a:r>
              <a:rPr lang="en-US"/>
              <a:t>WHAT: Cameron won reelection in 2015, and immediately began renegotiating the UK’s </a:t>
            </a:r>
          </a:p>
          <a:p>
            <a:r>
              <a:rPr lang="en-US"/>
              <a:t>Relationship with the EU. His proposed referendum passed by a slim 51.9% to 48.1%; North Ireland</a:t>
            </a:r>
          </a:p>
          <a:p>
            <a:r>
              <a:rPr lang="en-US"/>
              <a:t>And Scotland being 2 nations that voted in favor to stay in the EU. In 2016, the UK decided to leave the EU, </a:t>
            </a:r>
          </a:p>
          <a:p>
            <a:r>
              <a:rPr lang="en-US"/>
              <a:t>Yet Scotland felt they were being forcibly removed. </a:t>
            </a:r>
          </a:p>
          <a:p>
            <a:endParaRPr lang="en-US"/>
          </a:p>
          <a:p>
            <a:r>
              <a:rPr lang="en-US"/>
              <a:t>WHERE: </a:t>
            </a:r>
          </a:p>
          <a:p>
            <a:endParaRPr lang="en-US"/>
          </a:p>
          <a:p>
            <a:r>
              <a:rPr lang="en-US"/>
              <a:t>WHEN: </a:t>
            </a:r>
          </a:p>
          <a:p>
            <a:endParaRPr lang="en-US"/>
          </a:p>
          <a:p>
            <a:r>
              <a:rPr lang="en-US"/>
              <a:t>WHY: </a:t>
            </a:r>
          </a:p>
          <a:p>
            <a:endParaRPr lang="en-US"/>
          </a:p>
        </p:txBody>
      </p:sp>
      <p:sp>
        <p:nvSpPr>
          <p:cNvPr id="4" name="Slide Number Placeholder 3"/>
          <p:cNvSpPr>
            <a:spLocks noGrp="1"/>
          </p:cNvSpPr>
          <p:nvPr>
            <p:ph type="sldNum" sz="quarter" idx="5"/>
          </p:nvPr>
        </p:nvSpPr>
        <p:spPr/>
        <p:txBody>
          <a:bodyPr/>
          <a:lstStyle/>
          <a:p>
            <a:fld id="{613A0494-AEE6-2F4A-99F7-6F7A85822C55}" type="slidenum">
              <a:rPr lang="en-US" smtClean="0"/>
              <a:t>2</a:t>
            </a:fld>
            <a:endParaRPr lang="en-US"/>
          </a:p>
        </p:txBody>
      </p:sp>
    </p:spTree>
    <p:extLst>
      <p:ext uri="{BB962C8B-B14F-4D97-AF65-F5344CB8AC3E}">
        <p14:creationId xmlns:p14="http://schemas.microsoft.com/office/powerpoint/2010/main" val="24879471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a:solidFill>
                  <a:srgbClr val="FFFFFF"/>
                </a:solidFill>
                <a:effectLst/>
                <a:latin typeface="Lato-Regular"/>
              </a:rPr>
              <a:t>Do they meet the declaratory theory of statehood requirements? If so, explain. If not, which areas have they fallen short?</a:t>
            </a:r>
          </a:p>
          <a:p>
            <a:endParaRPr lang="en-US"/>
          </a:p>
          <a:p>
            <a:endParaRPr lang="en-US"/>
          </a:p>
          <a:p>
            <a:endParaRPr lang="en-US"/>
          </a:p>
          <a:p>
            <a:endParaRPr lang="en-US"/>
          </a:p>
          <a:p>
            <a:endParaRPr lang="en-US"/>
          </a:p>
          <a:p>
            <a:r>
              <a:rPr lang="en-US"/>
              <a:t>Scotland does meet 2/4 requirements with having a permanent  population with over 5.5 million people  </a:t>
            </a:r>
            <a:r>
              <a:rPr lang="en-US" err="1"/>
              <a:t>Migrartion</a:t>
            </a:r>
            <a:r>
              <a:rPr lang="en-US"/>
              <a:t> being the main driver of the </a:t>
            </a:r>
            <a:r>
              <a:rPr lang="en-US" err="1"/>
              <a:t>popultion</a:t>
            </a:r>
            <a:r>
              <a:rPr lang="en-US"/>
              <a:t>. Scotland also has a 96 mile border shared with England. This border is considered a soft border meaning people are aloud to come in w/o a passport.  Moving on the reason Scotland falls short is because they are not able to have </a:t>
            </a:r>
            <a:r>
              <a:rPr lang="en-US" err="1"/>
              <a:t>realtions</a:t>
            </a:r>
            <a:r>
              <a:rPr lang="en-US"/>
              <a:t> w/ other states.  Under the Scotland act of 1998 the Scotland </a:t>
            </a:r>
            <a:r>
              <a:rPr lang="en-US" err="1"/>
              <a:t>govt</a:t>
            </a:r>
            <a:r>
              <a:rPr lang="en-US"/>
              <a:t> has authority over internal matters but cannot sign international treaties. Scotland does have an active and functioning government but its shared with the uk and that means it doesn’t meet the criteria  for the </a:t>
            </a:r>
            <a:r>
              <a:rPr lang="en-US" err="1"/>
              <a:t>declatory</a:t>
            </a:r>
            <a:r>
              <a:rPr lang="en-US"/>
              <a:t> theory of statehood. This means that Scotland is not qualified to be a </a:t>
            </a:r>
            <a:r>
              <a:rPr lang="en-US" err="1"/>
              <a:t>sovergn</a:t>
            </a:r>
            <a:r>
              <a:rPr lang="en-US"/>
              <a:t> nation.</a:t>
            </a:r>
          </a:p>
          <a:p>
            <a:endParaRPr lang="en-US"/>
          </a:p>
          <a:p>
            <a:r>
              <a:rPr lang="en-US"/>
              <a:t>Scotland qualifies mostly with domestic </a:t>
            </a:r>
            <a:r>
              <a:rPr lang="en-US" err="1"/>
              <a:t>soverignty</a:t>
            </a:r>
            <a:r>
              <a:rPr lang="en-US"/>
              <a:t> because it aligns with the modern mainstream, political vision  for Scotland. The reason </a:t>
            </a:r>
            <a:r>
              <a:rPr lang="en-US" err="1"/>
              <a:t>scoland</a:t>
            </a:r>
            <a:r>
              <a:rPr lang="en-US"/>
              <a:t> wouldn’t qualify for the other level levels of </a:t>
            </a:r>
            <a:r>
              <a:rPr lang="en-US" err="1"/>
              <a:t>soverignty</a:t>
            </a:r>
            <a:r>
              <a:rPr lang="en-US"/>
              <a:t> because they are still apart of the UK making it hard to be independent or more.</a:t>
            </a:r>
          </a:p>
        </p:txBody>
      </p:sp>
      <p:sp>
        <p:nvSpPr>
          <p:cNvPr id="4" name="Slide Number Placeholder 3"/>
          <p:cNvSpPr>
            <a:spLocks noGrp="1"/>
          </p:cNvSpPr>
          <p:nvPr>
            <p:ph type="sldNum" sz="quarter" idx="5"/>
          </p:nvPr>
        </p:nvSpPr>
        <p:spPr/>
        <p:txBody>
          <a:bodyPr/>
          <a:lstStyle/>
          <a:p>
            <a:fld id="{613A0494-AEE6-2F4A-99F7-6F7A85822C55}" type="slidenum">
              <a:rPr lang="en-US" smtClean="0"/>
              <a:t>3</a:t>
            </a:fld>
            <a:endParaRPr lang="en-US"/>
          </a:p>
        </p:txBody>
      </p:sp>
    </p:spTree>
    <p:extLst>
      <p:ext uri="{BB962C8B-B14F-4D97-AF65-F5344CB8AC3E}">
        <p14:creationId xmlns:p14="http://schemas.microsoft.com/office/powerpoint/2010/main" val="7879586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what extent has Scotland met the </a:t>
            </a:r>
            <a:r>
              <a:rPr lang="en-US" err="1"/>
              <a:t>conststuitive</a:t>
            </a:r>
            <a:r>
              <a:rPr lang="en-US"/>
              <a:t> theory of statehood. </a:t>
            </a:r>
          </a:p>
          <a:p>
            <a:endParaRPr lang="en-US"/>
          </a:p>
          <a:p>
            <a:r>
              <a:rPr lang="en-US" sz="1800" b="1" i="0" u="none" strike="noStrike">
                <a:solidFill>
                  <a:srgbClr val="000000"/>
                </a:solidFill>
                <a:effectLst/>
                <a:latin typeface="Google Sans"/>
              </a:rPr>
              <a:t>Scotland has not met the constitutive theory of statehood</a:t>
            </a:r>
            <a:r>
              <a:rPr lang="en-US" sz="1800" b="0" i="0" u="none" strike="noStrike">
                <a:solidFill>
                  <a:srgbClr val="000000"/>
                </a:solidFill>
                <a:effectLst/>
                <a:latin typeface="Google Sans"/>
              </a:rPr>
              <a:t> because it is not recognized as an independent, sovereign state by the international community.</a:t>
            </a:r>
          </a:p>
          <a:p>
            <a:r>
              <a:rPr lang="en-US" sz="1800" b="0" i="0" u="none" strike="noStrike">
                <a:solidFill>
                  <a:srgbClr val="000000"/>
                </a:solidFill>
                <a:effectLst/>
                <a:latin typeface="Google Sans"/>
              </a:rPr>
              <a:t>Under international law, the </a:t>
            </a:r>
            <a:r>
              <a:rPr lang="en-US" sz="1800" b="1" i="0" u="none" strike="noStrike">
                <a:solidFill>
                  <a:srgbClr val="000000"/>
                </a:solidFill>
                <a:effectLst/>
                <a:latin typeface="Google Sans"/>
              </a:rPr>
              <a:t>constitutive theory</a:t>
            </a:r>
            <a:r>
              <a:rPr lang="en-US" sz="1800" b="0" i="0" u="none" strike="noStrike">
                <a:solidFill>
                  <a:srgbClr val="000000"/>
                </a:solidFill>
                <a:effectLst/>
                <a:latin typeface="Google Sans"/>
              </a:rPr>
              <a:t> dictates that a entity only becomes a state when it is officially </a:t>
            </a:r>
            <a:r>
              <a:rPr lang="en-US" sz="1800" b="1" i="0" u="none" strike="noStrike">
                <a:solidFill>
                  <a:srgbClr val="000000"/>
                </a:solidFill>
                <a:effectLst/>
                <a:latin typeface="Google Sans"/>
              </a:rPr>
              <a:t>recognized by other existing states</a:t>
            </a:r>
            <a:r>
              <a:rPr lang="en-US" sz="1800" b="0" i="0" u="none" strike="noStrike">
                <a:solidFill>
                  <a:srgbClr val="000000"/>
                </a:solidFill>
                <a:effectLst/>
                <a:latin typeface="Google Sans"/>
              </a:rPr>
              <a:t>.</a:t>
            </a:r>
          </a:p>
          <a:p>
            <a:r>
              <a:rPr lang="en-US"/>
              <a:t>  </a:t>
            </a:r>
          </a:p>
        </p:txBody>
      </p:sp>
      <p:sp>
        <p:nvSpPr>
          <p:cNvPr id="4" name="Slide Number Placeholder 3"/>
          <p:cNvSpPr>
            <a:spLocks noGrp="1"/>
          </p:cNvSpPr>
          <p:nvPr>
            <p:ph type="sldNum" sz="quarter" idx="5"/>
          </p:nvPr>
        </p:nvSpPr>
        <p:spPr/>
        <p:txBody>
          <a:bodyPr/>
          <a:lstStyle/>
          <a:p>
            <a:fld id="{613A0494-AEE6-2F4A-99F7-6F7A85822C55}" type="slidenum">
              <a:rPr lang="en-US" smtClean="0"/>
              <a:t>4</a:t>
            </a:fld>
            <a:endParaRPr lang="en-US"/>
          </a:p>
        </p:txBody>
      </p:sp>
    </p:spTree>
    <p:extLst>
      <p:ext uri="{BB962C8B-B14F-4D97-AF65-F5344CB8AC3E}">
        <p14:creationId xmlns:p14="http://schemas.microsoft.com/office/powerpoint/2010/main" val="300782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73B0-9A58-597F-116E-77D741281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F9E449-EE82-C585-23FF-D3079D97D0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1C70D0-5BC3-974F-7168-81C48CAFC53E}"/>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5" name="Footer Placeholder 4">
            <a:extLst>
              <a:ext uri="{FF2B5EF4-FFF2-40B4-BE49-F238E27FC236}">
                <a16:creationId xmlns:a16="http://schemas.microsoft.com/office/drawing/2014/main" id="{946AFB72-0EAB-BEBE-7CC4-ACE2D75EE9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8B235D-399A-135A-46CA-CB8CBD33170D}"/>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1899656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B2DB-E6FC-FAD7-43E4-6B22DAD25E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1CF8FB-2E68-6CBB-885A-A6A4BA87D6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5E791E-F13D-F12D-2FEB-38580F65876D}"/>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5" name="Footer Placeholder 4">
            <a:extLst>
              <a:ext uri="{FF2B5EF4-FFF2-40B4-BE49-F238E27FC236}">
                <a16:creationId xmlns:a16="http://schemas.microsoft.com/office/drawing/2014/main" id="{E314C73C-DB38-A017-238F-06227254EE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76B1B-9017-2FB4-A830-990E59A9EC34}"/>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2812576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E947F-A31C-E430-4734-B00856FE11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E8E33F-3E78-2237-04F7-8386091FF5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6A79C8-FEF1-F474-572E-80CBD8CCCEC6}"/>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5" name="Footer Placeholder 4">
            <a:extLst>
              <a:ext uri="{FF2B5EF4-FFF2-40B4-BE49-F238E27FC236}">
                <a16:creationId xmlns:a16="http://schemas.microsoft.com/office/drawing/2014/main" id="{CFCEBCFD-88AA-0DD3-1489-0E23DD2603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1851B9-62CA-27F0-8607-D7D1B5B34A68}"/>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294245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F683C-C31B-B85B-22BE-A3F3813195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48DC2C-5F5B-2E14-B8CA-5BC350CA2D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DE1A94B-0403-2C1A-C0C4-7120E7C8B4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6D4FFE-197A-C751-43CA-C6E3591154F9}"/>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6" name="Footer Placeholder 5">
            <a:extLst>
              <a:ext uri="{FF2B5EF4-FFF2-40B4-BE49-F238E27FC236}">
                <a16:creationId xmlns:a16="http://schemas.microsoft.com/office/drawing/2014/main" id="{93EAAEEC-E131-1F13-7B77-F280119202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C3FABD-D8BD-7B3A-48E6-FC679201E369}"/>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214080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73A2D-F64F-52BF-0647-30F27AFF3B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F9D29C-E627-00FC-FBD0-59411364C8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B526AD-ABBE-6292-9B31-5336F255C8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86E7EF8-1F6E-9013-C811-3115402D3A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BDDBCEF-F3F9-1AA0-154D-EC218969E8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8878F0-A86F-4E1E-6325-058DCCC31728}"/>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8" name="Footer Placeholder 7">
            <a:extLst>
              <a:ext uri="{FF2B5EF4-FFF2-40B4-BE49-F238E27FC236}">
                <a16:creationId xmlns:a16="http://schemas.microsoft.com/office/drawing/2014/main" id="{7C3AA6B3-8E47-0948-B2CB-5F46427BC8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65190C-7A5C-995F-BF71-7412946B6994}"/>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177128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A73CC-FF20-939E-DD4B-6AD305BC10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EFBBA3-4D4B-8369-6AED-AA33D1490D03}"/>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4" name="Footer Placeholder 3">
            <a:extLst>
              <a:ext uri="{FF2B5EF4-FFF2-40B4-BE49-F238E27FC236}">
                <a16:creationId xmlns:a16="http://schemas.microsoft.com/office/drawing/2014/main" id="{7028EA0A-180A-730E-91CD-B981CBC28A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3AABAD0-E99F-BC0E-3BE1-5B22B550EF8A}"/>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1493531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1FD676-F6EA-2B7B-9158-3912854287C7}"/>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3" name="Footer Placeholder 2">
            <a:extLst>
              <a:ext uri="{FF2B5EF4-FFF2-40B4-BE49-F238E27FC236}">
                <a16:creationId xmlns:a16="http://schemas.microsoft.com/office/drawing/2014/main" id="{CC25D796-D1BB-5B4C-5C56-0A50F99119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E3A2DA-F0C9-55B7-BF67-3DACE8879550}"/>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2427421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1681A-D85B-61D6-C071-0DB5F5C961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2B733C-0FBC-4A78-D997-F2DE66B5F1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75A95B-1035-7C5E-2A19-D76E90F8C5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26EDA-AF47-56FE-D74D-F0E395091E64}"/>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6" name="Footer Placeholder 5">
            <a:extLst>
              <a:ext uri="{FF2B5EF4-FFF2-40B4-BE49-F238E27FC236}">
                <a16:creationId xmlns:a16="http://schemas.microsoft.com/office/drawing/2014/main" id="{42FEEBE8-2956-BE61-410A-B8AE62271F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ECF53F-4EF5-FB4E-A201-96C56B1DBCD2}"/>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2860918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DC29F-2C58-34DE-7A82-F907E25852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B3C0A8-4F54-1D4D-5620-9604D6D83E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5FAC074-DF49-1A2C-6368-F6146AF9F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C46E72-8AA5-76F1-808F-3463105AA96D}"/>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6" name="Footer Placeholder 5">
            <a:extLst>
              <a:ext uri="{FF2B5EF4-FFF2-40B4-BE49-F238E27FC236}">
                <a16:creationId xmlns:a16="http://schemas.microsoft.com/office/drawing/2014/main" id="{7EC563FF-3B1B-24EF-8AF0-58E3682FB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C42D11-FA2E-F55E-214B-AB9750F18794}"/>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856000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AF688-D91B-C83A-B7D4-BA22E51F3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65CDAF-5484-E3BF-CE51-0EB396B296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39B092-F00A-CA1A-871D-E64BEE936A36}"/>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5" name="Footer Placeholder 4">
            <a:extLst>
              <a:ext uri="{FF2B5EF4-FFF2-40B4-BE49-F238E27FC236}">
                <a16:creationId xmlns:a16="http://schemas.microsoft.com/office/drawing/2014/main" id="{22C615E6-9648-EEDA-45FA-3656511532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DBD8CF-70BD-23E8-428C-951634129E10}"/>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3049929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C132D0-C446-06F5-E450-3460D06456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689610A-D510-74FD-34F0-92CBBC6309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6614F-546D-08FB-23E4-9115ED10C3CA}"/>
              </a:ext>
            </a:extLst>
          </p:cNvPr>
          <p:cNvSpPr>
            <a:spLocks noGrp="1"/>
          </p:cNvSpPr>
          <p:nvPr>
            <p:ph type="dt" sz="half" idx="10"/>
          </p:nvPr>
        </p:nvSpPr>
        <p:spPr/>
        <p:txBody>
          <a:bodyPr/>
          <a:lstStyle/>
          <a:p>
            <a:fld id="{35584A8B-B01A-0141-B36B-1A04CD98BFBE}" type="datetimeFigureOut">
              <a:rPr lang="en-US" smtClean="0"/>
              <a:t>9/16/2026</a:t>
            </a:fld>
            <a:endParaRPr lang="en-US"/>
          </a:p>
        </p:txBody>
      </p:sp>
      <p:sp>
        <p:nvSpPr>
          <p:cNvPr id="5" name="Footer Placeholder 4">
            <a:extLst>
              <a:ext uri="{FF2B5EF4-FFF2-40B4-BE49-F238E27FC236}">
                <a16:creationId xmlns:a16="http://schemas.microsoft.com/office/drawing/2014/main" id="{64E43D31-3E27-DB14-8325-F70BC15683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FB0A54-ABF5-62C6-7B77-1908229AFA80}"/>
              </a:ext>
            </a:extLst>
          </p:cNvPr>
          <p:cNvSpPr>
            <a:spLocks noGrp="1"/>
          </p:cNvSpPr>
          <p:nvPr>
            <p:ph type="sldNum" sz="quarter" idx="12"/>
          </p:nvPr>
        </p:nvSpPr>
        <p:spPr/>
        <p:txBody>
          <a:bodyPr/>
          <a:lstStyle/>
          <a:p>
            <a:fld id="{06CF46C0-1061-4549-B44A-8789A69DB2A7}" type="slidenum">
              <a:rPr lang="en-US" smtClean="0"/>
              <a:t>‹#›</a:t>
            </a:fld>
            <a:endParaRPr lang="en-US"/>
          </a:p>
        </p:txBody>
      </p:sp>
    </p:spTree>
    <p:extLst>
      <p:ext uri="{BB962C8B-B14F-4D97-AF65-F5344CB8AC3E}">
        <p14:creationId xmlns:p14="http://schemas.microsoft.com/office/powerpoint/2010/main" val="3658311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5A33B6-126B-E0D3-D3AF-E875C64B71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DDDEA0-DC45-CF34-84BC-0AE7D20150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DD5230-4F5A-B573-5C9A-F9331DD719B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584A8B-B01A-0141-B36B-1A04CD98BFBE}" type="datetimeFigureOut">
              <a:rPr lang="en-US" smtClean="0"/>
              <a:t>9/16/2026</a:t>
            </a:fld>
            <a:endParaRPr lang="en-US"/>
          </a:p>
        </p:txBody>
      </p:sp>
      <p:sp>
        <p:nvSpPr>
          <p:cNvPr id="5" name="Footer Placeholder 4">
            <a:extLst>
              <a:ext uri="{FF2B5EF4-FFF2-40B4-BE49-F238E27FC236}">
                <a16:creationId xmlns:a16="http://schemas.microsoft.com/office/drawing/2014/main" id="{D8006D0D-D644-52E6-F5D3-271242201E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601CC1E-3BF6-591D-4C88-48BB6C9FB7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CF46C0-1061-4549-B44A-8789A69DB2A7}" type="slidenum">
              <a:rPr lang="en-US" smtClean="0"/>
              <a:t>‹#›</a:t>
            </a:fld>
            <a:endParaRPr lang="en-US"/>
          </a:p>
        </p:txBody>
      </p:sp>
    </p:spTree>
    <p:extLst>
      <p:ext uri="{BB962C8B-B14F-4D97-AF65-F5344CB8AC3E}">
        <p14:creationId xmlns:p14="http://schemas.microsoft.com/office/powerpoint/2010/main" val="28523241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smithsonianmag.com/history/brief-history-scottish-independence-180973928/" TargetMode="External"/><Relationship Id="rId2" Type="http://schemas.openxmlformats.org/officeDocument/2006/relationships/hyperlink" Target="http://www.cfr.org/event/brexit-future-northern-ireland-and-scotland" TargetMode="External"/><Relationship Id="rId1" Type="http://schemas.openxmlformats.org/officeDocument/2006/relationships/slideLayout" Target="../slideLayouts/slideLayout2.xml"/><Relationship Id="rId5" Type="http://schemas.openxmlformats.org/officeDocument/2006/relationships/hyperlink" Target="http://www.nrscotland.gov.uk/" TargetMode="External"/><Relationship Id="rId4" Type="http://schemas.openxmlformats.org/officeDocument/2006/relationships/hyperlink" Target="http://www.history.com/articles/the-history-behind-brexi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E2D9C-34E5-CA7A-85B4-EE723FA9529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A64323D-B8A4-A468-4DC2-F8A128671CCE}"/>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3229DED1-2A91-5AF1-6A3C-D8772FE1FB9D}"/>
              </a:ext>
            </a:extLst>
          </p:cNvPr>
          <p:cNvPicPr>
            <a:picLocks noChangeAspect="1"/>
          </p:cNvPicPr>
          <p:nvPr/>
        </p:nvPicPr>
        <p:blipFill>
          <a:blip r:embed="rId3"/>
          <a:stretch>
            <a:fillRect/>
          </a:stretch>
        </p:blipFill>
        <p:spPr>
          <a:xfrm>
            <a:off x="1" y="-4904"/>
            <a:ext cx="12192000" cy="6867810"/>
          </a:xfrm>
          <a:prstGeom prst="rect">
            <a:avLst/>
          </a:prstGeom>
        </p:spPr>
      </p:pic>
    </p:spTree>
    <p:extLst>
      <p:ext uri="{BB962C8B-B14F-4D97-AF65-F5344CB8AC3E}">
        <p14:creationId xmlns:p14="http://schemas.microsoft.com/office/powerpoint/2010/main" val="18095111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Content Placeholder 10">
            <a:extLst>
              <a:ext uri="{FF2B5EF4-FFF2-40B4-BE49-F238E27FC236}">
                <a16:creationId xmlns:a16="http://schemas.microsoft.com/office/drawing/2014/main" id="{4E64B3B9-0FD7-45E1-39D4-7303292EAEDF}"/>
              </a:ext>
            </a:extLst>
          </p:cNvPr>
          <p:cNvPicPr>
            <a:picLocks noGrp="1" noChangeAspect="1"/>
          </p:cNvPicPr>
          <p:nvPr>
            <p:ph idx="1"/>
          </p:nvPr>
        </p:nvPicPr>
        <p:blipFill>
          <a:blip r:embed="rId3"/>
          <a:srcRect b="461"/>
          <a:stretch>
            <a:fillRect/>
          </a:stretch>
        </p:blipFill>
        <p:spPr>
          <a:xfrm>
            <a:off x="-74718" y="0"/>
            <a:ext cx="12266717" cy="6858000"/>
          </a:xfrm>
          <a:prstGeom prst="rect">
            <a:avLst/>
          </a:prstGeom>
        </p:spPr>
      </p:pic>
      <p:sp>
        <p:nvSpPr>
          <p:cNvPr id="12" name="TextBox 11">
            <a:extLst>
              <a:ext uri="{FF2B5EF4-FFF2-40B4-BE49-F238E27FC236}">
                <a16:creationId xmlns:a16="http://schemas.microsoft.com/office/drawing/2014/main" id="{364BC573-7ABE-14FC-8650-0EB3EA347420}"/>
              </a:ext>
            </a:extLst>
          </p:cNvPr>
          <p:cNvSpPr txBox="1"/>
          <p:nvPr/>
        </p:nvSpPr>
        <p:spPr>
          <a:xfrm>
            <a:off x="378174" y="2021304"/>
            <a:ext cx="11360931" cy="3970318"/>
          </a:xfrm>
          <a:prstGeom prst="rect">
            <a:avLst/>
          </a:prstGeom>
          <a:noFill/>
        </p:spPr>
        <p:txBody>
          <a:bodyPr wrap="none" rtlCol="0">
            <a:spAutoFit/>
          </a:bodyPr>
          <a:lstStyle/>
          <a:p>
            <a:r>
              <a:rPr lang="en-US"/>
              <a:t>WHO: The Scottish Independent movement (made up of citizens + political leaders), United </a:t>
            </a:r>
          </a:p>
          <a:p>
            <a:r>
              <a:rPr lang="en-US"/>
              <a:t>Kingdom Parliament and European Union officials.  </a:t>
            </a:r>
          </a:p>
          <a:p>
            <a:endParaRPr lang="en-US"/>
          </a:p>
          <a:p>
            <a:r>
              <a:rPr lang="en-US"/>
              <a:t>WHAT: Cameron won reelection in 2015, and immediately began renegotiating the UK’s </a:t>
            </a:r>
          </a:p>
          <a:p>
            <a:r>
              <a:rPr lang="en-US"/>
              <a:t>Relationship with the EU. His proposed referendum passed by a slim 51.9% to 48.1%; North Ireland</a:t>
            </a:r>
          </a:p>
          <a:p>
            <a:r>
              <a:rPr lang="en-US"/>
              <a:t>And Scotland being 2 nations that voted in favor to stay in the EU. In 2016, the UK decided to leave the EU, </a:t>
            </a:r>
          </a:p>
          <a:p>
            <a:r>
              <a:rPr lang="en-US"/>
              <a:t>Yet Scotland felt they were being forcibly removed. </a:t>
            </a:r>
          </a:p>
          <a:p>
            <a:endParaRPr lang="en-US"/>
          </a:p>
          <a:p>
            <a:r>
              <a:rPr lang="en-US"/>
              <a:t>WHERE: The United Kingdom + Scotland </a:t>
            </a:r>
          </a:p>
          <a:p>
            <a:endParaRPr lang="en-US"/>
          </a:p>
          <a:p>
            <a:r>
              <a:rPr lang="en-US"/>
              <a:t>WHEN: Following Brexit 2016, Scotland announced that it would be attempting to gain independency from </a:t>
            </a:r>
          </a:p>
          <a:p>
            <a:r>
              <a:rPr lang="en-US"/>
              <a:t>The UK. As of today, the nation has been unsuccessful in claiming their sovereignty. </a:t>
            </a:r>
          </a:p>
          <a:p>
            <a:endParaRPr lang="en-US"/>
          </a:p>
          <a:p>
            <a:r>
              <a:rPr lang="en-US"/>
              <a:t>WHY: The nation felt there’s be drastic economic effect with Brexit; cultural pride played a part in this decision too</a:t>
            </a:r>
          </a:p>
        </p:txBody>
      </p:sp>
    </p:spTree>
    <p:extLst>
      <p:ext uri="{BB962C8B-B14F-4D97-AF65-F5344CB8AC3E}">
        <p14:creationId xmlns:p14="http://schemas.microsoft.com/office/powerpoint/2010/main" val="16428902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73042DB4-1561-273C-1EFB-E2025B561514}"/>
              </a:ext>
            </a:extLst>
          </p:cNvPr>
          <p:cNvPicPr>
            <a:picLocks noGrp="1" noChangeAspect="1"/>
          </p:cNvPicPr>
          <p:nvPr>
            <p:ph idx="1"/>
          </p:nvPr>
        </p:nvPicPr>
        <p:blipFill>
          <a:blip r:embed="rId3"/>
          <a:srcRect r="425" b="-1"/>
          <a:stretch>
            <a:fillRect/>
          </a:stretch>
        </p:blipFill>
        <p:spPr>
          <a:xfrm>
            <a:off x="-1504" y="101876"/>
            <a:ext cx="12191980" cy="6856718"/>
          </a:xfrm>
          <a:prstGeom prst="rect">
            <a:avLst/>
          </a:prstGeom>
        </p:spPr>
      </p:pic>
      <p:sp>
        <p:nvSpPr>
          <p:cNvPr id="4" name="TextBox 3">
            <a:extLst>
              <a:ext uri="{FF2B5EF4-FFF2-40B4-BE49-F238E27FC236}">
                <a16:creationId xmlns:a16="http://schemas.microsoft.com/office/drawing/2014/main" id="{18D03C3A-ABAE-C188-6459-CC4374F56C74}"/>
              </a:ext>
            </a:extLst>
          </p:cNvPr>
          <p:cNvSpPr txBox="1"/>
          <p:nvPr/>
        </p:nvSpPr>
        <p:spPr>
          <a:xfrm>
            <a:off x="1722673" y="3910594"/>
            <a:ext cx="9330099" cy="1477328"/>
          </a:xfrm>
          <a:prstGeom prst="rect">
            <a:avLst/>
          </a:prstGeom>
          <a:noFill/>
        </p:spPr>
        <p:txBody>
          <a:bodyPr wrap="square" rtlCol="0">
            <a:spAutoFit/>
          </a:bodyPr>
          <a:lstStyle/>
          <a:p>
            <a:pPr algn="l"/>
            <a:r>
              <a:rPr lang="en-US"/>
              <a:t>-Scotland meets 2 out of the 4 requirements to be considered a sovereign nation.</a:t>
            </a:r>
          </a:p>
          <a:p>
            <a:pPr algn="l"/>
            <a:r>
              <a:rPr lang="en-US"/>
              <a:t>- Having a permanent population, defined territory and border.</a:t>
            </a:r>
          </a:p>
          <a:p>
            <a:pPr algn="l"/>
            <a:r>
              <a:rPr lang="en-US"/>
              <a:t>-Scotland falls shorts when it comes to being able to have relations with other states and by having a devolution shared government with the UK.</a:t>
            </a:r>
          </a:p>
          <a:p>
            <a:pPr algn="l"/>
            <a:r>
              <a:rPr lang="en-US"/>
              <a:t>-Therefor Scotland is unqualified to be a sovereign nation.</a:t>
            </a:r>
          </a:p>
        </p:txBody>
      </p:sp>
    </p:spTree>
    <p:extLst>
      <p:ext uri="{BB962C8B-B14F-4D97-AF65-F5344CB8AC3E}">
        <p14:creationId xmlns:p14="http://schemas.microsoft.com/office/powerpoint/2010/main" val="9996350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26E6-AB65-E46E-6291-FC7A8E4BB87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2A62EDF-457B-32BD-383E-0C3401D4FFD2}"/>
              </a:ext>
            </a:extLst>
          </p:cNvPr>
          <p:cNvPicPr>
            <a:picLocks noGrp="1" noChangeAspect="1"/>
          </p:cNvPicPr>
          <p:nvPr>
            <p:ph idx="1"/>
          </p:nvPr>
        </p:nvPicPr>
        <p:blipFill>
          <a:blip r:embed="rId3"/>
          <a:stretch>
            <a:fillRect/>
          </a:stretch>
        </p:blipFill>
        <p:spPr>
          <a:xfrm>
            <a:off x="189552" y="25263"/>
            <a:ext cx="12192000" cy="6832737"/>
          </a:xfrm>
          <a:prstGeom prst="rect">
            <a:avLst/>
          </a:prstGeom>
        </p:spPr>
      </p:pic>
    </p:spTree>
    <p:extLst>
      <p:ext uri="{BB962C8B-B14F-4D97-AF65-F5344CB8AC3E}">
        <p14:creationId xmlns:p14="http://schemas.microsoft.com/office/powerpoint/2010/main" val="3322240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38A-1B6E-27A2-5954-4FBC2FBF389E}"/>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0B351F3-C14F-EBC0-C8B2-3651B08C1085}"/>
              </a:ext>
            </a:extLst>
          </p:cNvPr>
          <p:cNvPicPr>
            <a:picLocks noGrp="1" noChangeAspect="1"/>
          </p:cNvPicPr>
          <p:nvPr>
            <p:ph idx="1"/>
          </p:nvPr>
        </p:nvPicPr>
        <p:blipFill>
          <a:blip r:embed="rId2"/>
          <a:stretch>
            <a:fillRect/>
          </a:stretch>
        </p:blipFill>
        <p:spPr>
          <a:xfrm>
            <a:off x="0" y="-1"/>
            <a:ext cx="12192000" cy="6875873"/>
          </a:xfrm>
          <a:prstGeom prst="rect">
            <a:avLst/>
          </a:prstGeom>
        </p:spPr>
      </p:pic>
    </p:spTree>
    <p:extLst>
      <p:ext uri="{BB962C8B-B14F-4D97-AF65-F5344CB8AC3E}">
        <p14:creationId xmlns:p14="http://schemas.microsoft.com/office/powerpoint/2010/main" val="1146387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Content Placeholder 4">
            <a:extLst>
              <a:ext uri="{FF2B5EF4-FFF2-40B4-BE49-F238E27FC236}">
                <a16:creationId xmlns:a16="http://schemas.microsoft.com/office/drawing/2014/main" id="{B25C7243-1F2A-FDB3-77FE-C5F4840460D2}"/>
              </a:ext>
            </a:extLst>
          </p:cNvPr>
          <p:cNvPicPr>
            <a:picLocks noGrp="1" noChangeAspect="1"/>
          </p:cNvPicPr>
          <p:nvPr>
            <p:ph idx="1"/>
          </p:nvPr>
        </p:nvPicPr>
        <p:blipFill>
          <a:blip r:embed="rId2"/>
          <a:srcRect b="461"/>
          <a:stretch>
            <a:fillRect/>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17E96EE4-9F1E-B07E-627E-F37F517EB1B5}"/>
              </a:ext>
            </a:extLst>
          </p:cNvPr>
          <p:cNvSpPr txBox="1"/>
          <p:nvPr/>
        </p:nvSpPr>
        <p:spPr>
          <a:xfrm>
            <a:off x="357573" y="2576990"/>
            <a:ext cx="6325340" cy="2585323"/>
          </a:xfrm>
          <a:prstGeom prst="rect">
            <a:avLst/>
          </a:prstGeom>
          <a:noFill/>
        </p:spPr>
        <p:txBody>
          <a:bodyPr wrap="square" rtlCol="0">
            <a:spAutoFit/>
          </a:bodyPr>
          <a:lstStyle/>
          <a:p>
            <a:pPr algn="l"/>
            <a:r>
              <a:rPr lang="en-US">
                <a:solidFill>
                  <a:schemeClr val="bg1"/>
                </a:solidFill>
              </a:rPr>
              <a:t>1</a:t>
            </a:r>
            <a:r>
              <a:rPr lang="en-US" baseline="30000">
                <a:solidFill>
                  <a:schemeClr val="bg1"/>
                </a:solidFill>
              </a:rPr>
              <a:t>st</a:t>
            </a:r>
            <a:r>
              <a:rPr lang="en-US">
                <a:solidFill>
                  <a:schemeClr val="bg1"/>
                </a:solidFill>
              </a:rPr>
              <a:t> barrier: Scotland is not recognized as a sovereign nation but it is instead the UK who represents them globally</a:t>
            </a:r>
          </a:p>
          <a:p>
            <a:pPr algn="l"/>
            <a:r>
              <a:rPr lang="en-US">
                <a:solidFill>
                  <a:schemeClr val="bg1"/>
                </a:solidFill>
              </a:rPr>
              <a:t>2</a:t>
            </a:r>
            <a:r>
              <a:rPr lang="en-US" baseline="30000">
                <a:solidFill>
                  <a:schemeClr val="bg1"/>
                </a:solidFill>
              </a:rPr>
              <a:t>nd</a:t>
            </a:r>
            <a:r>
              <a:rPr lang="en-US">
                <a:solidFill>
                  <a:schemeClr val="bg1"/>
                </a:solidFill>
              </a:rPr>
              <a:t> barrier: Scotland does not possess the exclusion of external actors, this is because while they do have their own government that is capable of managing internal structures, the ultimate legal sovereignty remains with the UK Parliament </a:t>
            </a:r>
          </a:p>
          <a:p>
            <a:pPr algn="l"/>
            <a:r>
              <a:rPr lang="en-US">
                <a:solidFill>
                  <a:schemeClr val="bg1"/>
                </a:solidFill>
              </a:rPr>
              <a:t>3</a:t>
            </a:r>
            <a:r>
              <a:rPr lang="en-US" baseline="30000">
                <a:solidFill>
                  <a:schemeClr val="bg1"/>
                </a:solidFill>
              </a:rPr>
              <a:t>rd</a:t>
            </a:r>
            <a:r>
              <a:rPr lang="en-US">
                <a:solidFill>
                  <a:schemeClr val="bg1"/>
                </a:solidFill>
              </a:rPr>
              <a:t> barrier: While Scotland has their own government, effective authority and power to decide laws, the UK is able to change these and they control things like foreign affairs</a:t>
            </a:r>
          </a:p>
        </p:txBody>
      </p:sp>
    </p:spTree>
    <p:extLst>
      <p:ext uri="{BB962C8B-B14F-4D97-AF65-F5344CB8AC3E}">
        <p14:creationId xmlns:p14="http://schemas.microsoft.com/office/powerpoint/2010/main" val="188877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F3885-64CB-150A-B14D-E7DAD76DA623}"/>
              </a:ext>
            </a:extLst>
          </p:cNvPr>
          <p:cNvSpPr>
            <a:spLocks noGrp="1"/>
          </p:cNvSpPr>
          <p:nvPr>
            <p:ph type="title"/>
          </p:nvPr>
        </p:nvSpPr>
        <p:spPr/>
        <p:txBody>
          <a:bodyPr/>
          <a:lstStyle/>
          <a:p>
            <a:r>
              <a:rPr lang="en-US"/>
              <a:t>Works Cited </a:t>
            </a:r>
          </a:p>
        </p:txBody>
      </p:sp>
      <p:sp>
        <p:nvSpPr>
          <p:cNvPr id="3" name="Content Placeholder 2">
            <a:extLst>
              <a:ext uri="{FF2B5EF4-FFF2-40B4-BE49-F238E27FC236}">
                <a16:creationId xmlns:a16="http://schemas.microsoft.com/office/drawing/2014/main" id="{E7A4F622-6C58-C357-0661-722F8BCD6F57}"/>
              </a:ext>
            </a:extLst>
          </p:cNvPr>
          <p:cNvSpPr>
            <a:spLocks noGrp="1"/>
          </p:cNvSpPr>
          <p:nvPr>
            <p:ph idx="1"/>
          </p:nvPr>
        </p:nvSpPr>
        <p:spPr/>
        <p:txBody>
          <a:bodyPr>
            <a:normAutofit fontScale="85000" lnSpcReduction="20000"/>
          </a:bodyPr>
          <a:lstStyle/>
          <a:p>
            <a:pPr marL="0" indent="0">
              <a:buNone/>
            </a:pPr>
            <a:r>
              <a:rPr lang="en-US"/>
              <a:t>“Brexit: The Future of Northern Ireland and Scotland.” </a:t>
            </a:r>
            <a:r>
              <a:rPr lang="en-US" i="1"/>
              <a:t>Council on Foreign Relations</a:t>
            </a:r>
            <a:r>
              <a:rPr lang="en-US"/>
              <a:t>, Council on Foreign Relations, </a:t>
            </a:r>
            <a:r>
              <a:rPr lang="en-US">
                <a:hlinkClick r:id="rId2"/>
              </a:rPr>
              <a:t>www.cfr.org/event/brexit-future-northern-ireland-and-scotland</a:t>
            </a:r>
            <a:r>
              <a:rPr lang="en-US"/>
              <a:t> </a:t>
            </a:r>
          </a:p>
          <a:p>
            <a:pPr marL="0" indent="0">
              <a:buNone/>
            </a:pPr>
            <a:r>
              <a:rPr lang="en-US"/>
              <a:t>Duffy, Reuben. “The Politics of Scotland’s Autonomous Foreign Policy.” </a:t>
            </a:r>
            <a:r>
              <a:rPr lang="en-US" i="1"/>
              <a:t>The Constitution Society</a:t>
            </a:r>
            <a:r>
              <a:rPr lang="en-US"/>
              <a:t>, 14 Aug. 2025, </a:t>
            </a:r>
            <a:r>
              <a:rPr lang="en-US" err="1"/>
              <a:t>consoc.org.uk</a:t>
            </a:r>
            <a:r>
              <a:rPr lang="en-US"/>
              <a:t>/the-politics-of-</a:t>
            </a:r>
            <a:r>
              <a:rPr lang="en-US" err="1"/>
              <a:t>scotlands</a:t>
            </a:r>
            <a:r>
              <a:rPr lang="en-US"/>
              <a:t>-autonomous-foreign-policy/. </a:t>
            </a:r>
          </a:p>
          <a:p>
            <a:pPr marL="0" indent="0">
              <a:buNone/>
            </a:pPr>
            <a:r>
              <a:rPr lang="en-US"/>
              <a:t>Solly, Meilan. “A Not-so-Brief History of Scottish Independence.” </a:t>
            </a:r>
            <a:r>
              <a:rPr lang="en-US" i="1" err="1"/>
              <a:t>Smithsonian.Com</a:t>
            </a:r>
            <a:r>
              <a:rPr lang="en-US"/>
              <a:t>, Smithsonian Institution, 30 Jan. 2020, </a:t>
            </a:r>
            <a:r>
              <a:rPr lang="en-US">
                <a:hlinkClick r:id="rId3"/>
              </a:rPr>
              <a:t>www.smithsonianmag.com/history/brief-history-scottish-independence-180973928/</a:t>
            </a:r>
            <a:r>
              <a:rPr lang="en-US"/>
              <a:t>. </a:t>
            </a:r>
          </a:p>
          <a:p>
            <a:pPr marL="0" indent="0">
              <a:buNone/>
            </a:pPr>
            <a:r>
              <a:rPr lang="en-US"/>
              <a:t>“The History behind Brexit.” </a:t>
            </a:r>
            <a:r>
              <a:rPr lang="en-US" i="1" err="1"/>
              <a:t>History.Com</a:t>
            </a:r>
            <a:r>
              <a:rPr lang="en-US"/>
              <a:t>, A&amp;E Television Networks, 28 May 2025, </a:t>
            </a:r>
            <a:r>
              <a:rPr lang="en-US">
                <a:hlinkClick r:id="rId4"/>
              </a:rPr>
              <a:t>www.history.com/articles/the-history-behind-brexit</a:t>
            </a:r>
            <a:r>
              <a:rPr lang="en-US"/>
              <a:t>. </a:t>
            </a:r>
          </a:p>
          <a:p>
            <a:pPr marL="0" indent="0">
              <a:buNone/>
            </a:pPr>
            <a:r>
              <a:rPr lang="en-US"/>
              <a:t>“Welcome to National Records of Scotland.” </a:t>
            </a:r>
            <a:r>
              <a:rPr lang="en-US" i="1"/>
              <a:t>National Records of Scotland (NRS)</a:t>
            </a:r>
            <a:r>
              <a:rPr lang="en-US"/>
              <a:t>, </a:t>
            </a:r>
            <a:r>
              <a:rPr lang="en-US">
                <a:hlinkClick r:id="rId5"/>
              </a:rPr>
              <a:t>www.nrscotland.gov.uk/</a:t>
            </a:r>
            <a:r>
              <a:rPr lang="en-US"/>
              <a:t> </a:t>
            </a:r>
          </a:p>
          <a:p>
            <a:pPr marL="0" indent="0">
              <a:buNone/>
            </a:pPr>
            <a:endParaRPr lang="en-US"/>
          </a:p>
          <a:p>
            <a:endParaRPr lang="en-US"/>
          </a:p>
        </p:txBody>
      </p:sp>
    </p:spTree>
    <p:extLst>
      <p:ext uri="{BB962C8B-B14F-4D97-AF65-F5344CB8AC3E}">
        <p14:creationId xmlns:p14="http://schemas.microsoft.com/office/powerpoint/2010/main" val="8669097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Scotland + Brexit</Template>
  <TotalTime>0</TotalTime>
  <Words>835</Words>
  <Application>Microsoft Office PowerPoint</Application>
  <PresentationFormat>Widescreen</PresentationFormat>
  <Paragraphs>58</Paragraphs>
  <Slides>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Google Sans</vt:lpstr>
      <vt:lpstr>Lato-Regular</vt:lpstr>
      <vt:lpstr>Office Theme</vt:lpstr>
      <vt:lpstr>PowerPoint Presentation</vt:lpstr>
      <vt:lpstr>PowerPoint Presentation</vt:lpstr>
      <vt:lpstr>PowerPoint Presentation</vt:lpstr>
      <vt:lpstr>PowerPoint Presentation</vt:lpstr>
      <vt:lpstr>PowerPoint Presentation</vt:lpstr>
      <vt:lpstr>PowerPoint Presentation</vt:lpstr>
      <vt:lpstr>Works Cited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VISHAL LOWE (Student)</dc:creator>
  <cp:lastModifiedBy>VISHAL LOWE (Student)</cp:lastModifiedBy>
  <cp:revision>1</cp:revision>
  <dcterms:created xsi:type="dcterms:W3CDTF">2026-09-16T13:48:39Z</dcterms:created>
  <dcterms:modified xsi:type="dcterms:W3CDTF">2026-09-16T13:49:14Z</dcterms:modified>
</cp:coreProperties>
</file>